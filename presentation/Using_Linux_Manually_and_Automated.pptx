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9144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72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0" b="1">
                <a:solidFill>
                  <a:srgbClr val="FFFFFF"/>
                </a:solidFill>
                <a:latin typeface="Impact"/>
              </a:rPr>
              <a:t>USING LINUX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2606040"/>
            <a:ext cx="8229600" cy="54864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697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C8D6E5"/>
                </a:solidFill>
                <a:latin typeface="Consolas"/>
              </a:rPr>
              <a:t>MANUALLY AND AUTOMATED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3375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E8C"/>
                </a:solidFill>
                <a:latin typeface="Calibri"/>
              </a:rPr>
              <a:t>Kernel  ●  Users &amp; permissions  ●  Filesystem  ●  Ansible primitives  ●  Idempotency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8404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8D6E5"/>
                </a:solidFill>
                <a:latin typeface="Calibri"/>
              </a:rPr>
              <a:t>Career Practicum — Live Demonstration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343400"/>
            <a:ext cx="1463040" cy="292608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3616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9D353"/>
                </a:solidFill>
                <a:latin typeface="Consolas"/>
              </a:rPr>
              <a:t>bash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31136" y="4343400"/>
            <a:ext cx="1463040" cy="292608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76856" y="43616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9D353"/>
                </a:solidFill>
                <a:latin typeface="Consolas"/>
              </a:rPr>
              <a:t>useradd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22191" y="4343400"/>
            <a:ext cx="1463040" cy="292608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67912" y="43616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9D353"/>
                </a:solidFill>
                <a:latin typeface="Consolas"/>
              </a:rPr>
              <a:t>chmod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13248" y="4343400"/>
            <a:ext cx="1463040" cy="292608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58968" y="43616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9D353"/>
                </a:solidFill>
                <a:latin typeface="Consolas"/>
              </a:rPr>
              <a:t>/srv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04304" y="4343400"/>
            <a:ext cx="1463040" cy="292608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0024" y="43616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9D353"/>
                </a:solidFill>
                <a:latin typeface="Consolas"/>
              </a:rPr>
              <a:t>playbook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95359" y="4343400"/>
            <a:ext cx="1463040" cy="292608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43616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9D353"/>
                </a:solidFill>
                <a:latin typeface="Consolas"/>
              </a:rPr>
              <a:t>idempotent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86415" y="4343400"/>
            <a:ext cx="1463040" cy="292608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32136" y="43616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9D353"/>
                </a:solidFill>
                <a:latin typeface="Consolas"/>
              </a:rPr>
              <a:t>Piwigo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1967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E8C"/>
                </a:solidFill>
                <a:latin typeface="Consolas"/>
              </a:rPr>
              <a:t>Hosts: brush 192.168.50.5 (Ubuntu 24.04)  ●  canvas 192.168.50.26 (Ubuntu 24.04)  ●  Kernel 6.8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9D353"/>
                </a:solidFill>
                <a:latin typeface="Consolas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LINUX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C8D6E5"/>
                </a:solidFill>
                <a:latin typeface="Calibri"/>
              </a:rPr>
              <a:t>The kernel, the multi-user model, the filesystem, and the permission bits everything else builds 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E8C"/>
                </a:solidFill>
                <a:latin typeface="Consolas"/>
              </a:rPr>
              <a:t>USING LINUX  ●  MANUALLY AND AUTOMATED  ●  CAREER PRACTICUM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Linux Is — Kernel, Userland,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E8C"/>
                </a:solidFill>
                <a:latin typeface="Consolas"/>
              </a:rPr>
              <a:t>Source: kernel.org  |  Linus Torvalds, comp.os.minix Aug 1991  |  gnu.org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68680"/>
            <a:ext cx="116128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Linux is the kernel — the program that talks to hardware and mediates everything else. The operating system in everyday use is the kernel plus the GNU userland (bash, coreutils, systemd) bundled by a distribution. Today's demo runs on Ubuntu 24.04 — a Debian-derived distribution with the Linux 6.8 kernel.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74519"/>
            <a:ext cx="3840480" cy="283464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74519"/>
            <a:ext cx="54864" cy="283464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20239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Kernel (Linux proper)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58567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CPU scheduling, memory mgmt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87751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Device drivers, network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16935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Provides system 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46119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Enforces every permission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575303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Monolithic, ~30M lines of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904487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GPLv2 — free + open 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1874519"/>
            <a:ext cx="3840480" cy="283464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874519"/>
            <a:ext cx="54864" cy="283464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920239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GNU + Userland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258567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Shell — bash, zsh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587751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Coreutils — ls, cat, chmod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916935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useradd, groupadd, install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246119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Init / service mgr — systemd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575303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Networking — iproute2, ssh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904487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Package mgr — apt, dnf, pacman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874519"/>
            <a:ext cx="3657600" cy="283464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874519"/>
            <a:ext cx="54864" cy="283464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1920239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Distribution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258567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Ubuntu (our demo OS)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587751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Debian, Fedora, RHEL, 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916935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Bundles kernel + userland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246119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Adds package manager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575303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Release eng + security updates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904487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~600 actively-maintained distros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846320"/>
            <a:ext cx="11612880" cy="16002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846320"/>
            <a:ext cx="45720" cy="16002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846320"/>
            <a:ext cx="11612880" cy="27432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864608"/>
            <a:ext cx="11430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E8C"/>
                </a:solidFill>
                <a:latin typeface="Consolas"/>
              </a:rPr>
              <a:t>$ verifying the kernel and distro on canvas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5157216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$ uname -r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5376672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6.8.0-60-generic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5596128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$ uname -a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5815584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Linux canvas 6.8.0-60-generic #63-Ubuntu SMP PREEMPT_DYNAMIC x86_64 GNU/Linux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" y="6035040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$ lsb_release -d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6254496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Description:  Ubuntu 24.04.1 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Multi-User from Day One — Identity Is the Permission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E8C"/>
                </a:solidFill>
                <a:latin typeface="Consolas"/>
              </a:rPr>
              <a:t>Source: passwd(5)  |  group(5)  |  id(1)  |  /etc/passwd, /etc/shadow, /etc/group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68680"/>
            <a:ext cx="116128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Linux has been multi-user since the first release. Every running process belongs to a user and one or more groups; every file on disk has an owning user and group. The kernel checks every read, write, and execute against those identities — there is no untracked access.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74519"/>
            <a:ext cx="5760720" cy="192024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74519"/>
            <a:ext cx="54864" cy="192024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2023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/etc/passwd  —  one line per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58567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username : x : UID : GID : GECOS : home : 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87751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16935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rembrandt:x:1001:1001::/home/rembrandt:/bin/bash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46119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(x = password lives in /etc/shadow, root-only)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874519"/>
            <a:ext cx="5760720" cy="192024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874519"/>
            <a:ext cx="54864" cy="192024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92023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/etc/group  —  one line per group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58567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groupname : x : GID : member,member,member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587751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916935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painters:x:1001:rembrandt,klimt,dali,kahlo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246119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(comma-separated supplementary group members)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931920"/>
            <a:ext cx="11612880" cy="25146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931920"/>
            <a:ext cx="45720" cy="25146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931920"/>
            <a:ext cx="11612880" cy="27432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950208"/>
            <a:ext cx="11430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E8C"/>
                </a:solidFill>
                <a:latin typeface="Consolas"/>
              </a:rPr>
              <a:t>$ identity in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4242816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$ id rembrandt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4462272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uid=1001(rembrandt) gid=1001(painters) groups=1001(painters)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681728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4901184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$ ls -l /srv/atelier/rembrandt/sketches.txt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5120640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-rw-------  1 rembrandt painters  35 May  6 09:00 sketches.txt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5340096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              ↑ owner    ↑ group   ↑ kernel checks identity on every open(2)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5559552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5779008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$ ps -eo uid,user,comm | head -3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5998464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  0 root             systemd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6217920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101 systemd-network  systemd-network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Filesystem — Where Things Belong (FHS)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E8C"/>
                </a:solidFill>
                <a:latin typeface="Consolas"/>
              </a:rPr>
              <a:t>Source: pathname.com/fhs  |  hier(7) man page  |  Filesystem Hierarchy Standard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68680"/>
            <a:ext cx="11612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Linux uses a single rooted tree — everything hangs off /. The Filesystem Hierarchy Standard gives every directory a defined purpose, so admins on any distro know where to look.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5760720" cy="310896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54864" cy="310896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00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Directories you'll see all the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38528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/etc      — system configuration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67712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/home     — regular users' home dirs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596896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/var      — variable data: logs, mail, spool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926080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/tmp      — scratch, world-writable, sticky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255264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/usr      — read-only userland (binaries, libs)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584448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/opt      — third-party software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554480"/>
            <a:ext cx="5760720" cy="310896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554480"/>
            <a:ext cx="54864" cy="310896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600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Where the demo creates things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938528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/srv      — service-data root  (FHS reserved)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267712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/srv/atelier  — Phase 1 (manual) studio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596896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/srv/studio   — Phase 2 (ansible) 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926080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/var/www/piwigo  — Apache document root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255264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/etc/apache2/sites-available/piwigo.conf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584448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/home/&lt;artist&gt;  — created by useradd -m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846320"/>
            <a:ext cx="11612880" cy="16002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846320"/>
            <a:ext cx="45720" cy="16002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846320"/>
            <a:ext cx="11612880" cy="27432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864608"/>
            <a:ext cx="11430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E8C"/>
                </a:solidFill>
                <a:latin typeface="Consolas"/>
              </a:rPr>
              <a:t>$ poking around the tree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5157216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$ ls 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5376672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bin   boot  dev  etc  home  lib  media  mnt  opt  proc  root  run  sbin  srv  sys  tmp  usr  var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5596128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5815584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$ stat -c '%n  %U:%G  %a' /etc /home /srv /tmp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6035040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/etc  root:root  755     /home  root:root  755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6254496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/srv  root:root  755     /tmp   root:root  1777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Permission Bits — The Model the Kernel Enforces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E8C"/>
                </a:solidFill>
                <a:latin typeface="Consolas"/>
              </a:rPr>
              <a:t>Source: chmod(1)  |  inode(7)  |  ls(1) -l output format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11612880" cy="77724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88696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39D353"/>
                </a:solidFill>
                <a:latin typeface="Consolas"/>
              </a:rPr>
              <a:t>-     rwx        r-x        r--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E8C"/>
                </a:solidFill>
                <a:latin typeface="Consolas"/>
              </a:rPr>
              <a:t>type   owner     group      others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1353312" cy="384048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883664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Permission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1828800"/>
            <a:ext cx="987552" cy="384048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1883664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Symbol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828800"/>
            <a:ext cx="987552" cy="384048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1883664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Octal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1828800"/>
            <a:ext cx="987552" cy="384048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1883664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Binary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828800"/>
            <a:ext cx="7296912" cy="384048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1883664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Meaning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212848"/>
            <a:ext cx="1353312" cy="384048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26771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Read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2212848"/>
            <a:ext cx="987552" cy="384048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37360" y="2267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212848"/>
            <a:ext cx="987552" cy="384048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2267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2212848"/>
            <a:ext cx="987552" cy="384048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2267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100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2212848"/>
            <a:ext cx="7296912" cy="384048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79" y="2267712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View file contents / list directory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578608"/>
            <a:ext cx="1353312" cy="384048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263347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Write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0" y="2578608"/>
            <a:ext cx="987552" cy="384048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37360" y="263347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2578608"/>
            <a:ext cx="987552" cy="384048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263347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2578608"/>
            <a:ext cx="987552" cy="384048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39" y="263347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010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2578608"/>
            <a:ext cx="7296912" cy="384048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79" y="2633472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Modify file / create + delete in directory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944368"/>
            <a:ext cx="1353312" cy="384048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299923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Execute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0" y="2944368"/>
            <a:ext cx="987552" cy="384048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37360" y="299923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2944368"/>
            <a:ext cx="987552" cy="384048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0" y="299923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0" y="2944368"/>
            <a:ext cx="987552" cy="384048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49039" y="299923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001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63440" y="2944368"/>
            <a:ext cx="7296912" cy="384048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79" y="2999232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Run as program / cd into directory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310127"/>
            <a:ext cx="1353312" cy="384048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3364991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None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45920" y="3310127"/>
            <a:ext cx="987552" cy="384048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37360" y="3364991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-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51760" y="3310127"/>
            <a:ext cx="987552" cy="384048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0" y="3364991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0" y="3310127"/>
            <a:ext cx="987552" cy="384048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49039" y="3364991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63440" y="3310127"/>
            <a:ext cx="7296912" cy="384048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79" y="3364991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Denied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3675887"/>
            <a:ext cx="1353312" cy="384048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3730751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SUID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45920" y="3675887"/>
            <a:ext cx="987552" cy="384048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37360" y="3730751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s(u)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51760" y="3675887"/>
            <a:ext cx="987552" cy="384048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0" y="3730751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4000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0" y="3675887"/>
            <a:ext cx="987552" cy="384048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49039" y="3730751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63440" y="3675887"/>
            <a:ext cx="7296912" cy="384048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54879" y="3730751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Run as file owner (e.g. /usr/bin/sudo)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4041648"/>
            <a:ext cx="1353312" cy="384048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4096511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SGID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645920" y="4041648"/>
            <a:ext cx="987552" cy="384048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737360" y="4096511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s(g)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51760" y="4041648"/>
            <a:ext cx="987552" cy="384048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43200" y="4096511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2000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0" y="4041648"/>
            <a:ext cx="987552" cy="384048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749039" y="4096511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63440" y="4041648"/>
            <a:ext cx="7296912" cy="384048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54879" y="4096511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Run as file group / dirs: inherit group ← used in demo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4407408"/>
            <a:ext cx="1353312" cy="384048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5760" y="446227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Sticky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45920" y="4407408"/>
            <a:ext cx="987552" cy="384048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737360" y="446227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51760" y="4407408"/>
            <a:ext cx="987552" cy="384048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43200" y="446227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1000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0" y="4407408"/>
            <a:ext cx="987552" cy="384048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749039" y="446227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63440" y="4407408"/>
            <a:ext cx="7296912" cy="384048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54879" y="4462272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Only owner can delete (e.g. /tmp)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5074920"/>
            <a:ext cx="11612880" cy="13716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74320" y="5074920"/>
            <a:ext cx="45720" cy="13716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74320" y="5074920"/>
            <a:ext cx="11612880" cy="27432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5760" y="5093208"/>
            <a:ext cx="11430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E8C"/>
                </a:solidFill>
                <a:latin typeface="Consolas"/>
              </a:rPr>
              <a:t>$ chmod by example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4048" y="5385816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chmod 644 portfolio.txt        # rw-r--r--   owner rw, others 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4048" y="5605272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chmod 600 ~/.ssh/id_ed25519    # rw-------   ssh REQUIRES this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84048" y="5824728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chmod 755 script.sh            # rwxr-xr-x   executable to all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84048" y="6044184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chmod 2775 /srv/atelier        # rwxrwsr-x   setgid: new files inherit group ← demo uses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9D353"/>
                </a:solidFill>
                <a:latin typeface="Consolas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PHASE 1 — BY HAND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C8D6E5"/>
                </a:solidFill>
                <a:latin typeface="Calibri"/>
              </a:rPr>
              <a:t>Six users, one shared studio, and a kernel that enforces every bit we just learned about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E8C"/>
                </a:solidFill>
                <a:latin typeface="Consolas"/>
              </a:rPr>
              <a:t>USING LINUX  ●  MANUALLY AND AUTOMATED  ●  CAREER PRACTICUM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Setup — Two Hosts, One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E8C"/>
                </a:solidFill>
                <a:latin typeface="Consolas"/>
              </a:rPr>
              <a:t>Source: /root/ansible/inventory.ini on brush  |  ansible-playbook(1)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68680"/>
            <a:ext cx="11612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8D6E5"/>
                </a:solidFill>
                <a:latin typeface="Calibri"/>
              </a:rPr>
              <a:t>Two Ubuntu VMs on the same subnet. Brush holds the playbooks. Canvas receives every change. During Phase 2, no one ever logs into canvas directly — that is the entire point of the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5669280" cy="210312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54864" cy="210312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2763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brush — Ansible Control 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9D353"/>
                </a:solidFill>
                <a:latin typeface="Consolas"/>
              </a:rPr>
              <a:t>192.168.50.5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3172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Holds the playbooks under /root/ansible/.
Runs ansible-playbook against canvas over SSH.
Has artists.yml, piwigo.yml, reset.yml, and a one-host inventory.ini.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5669280" cy="210312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54864" cy="210312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62763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canvas — Managed 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00BCD4"/>
                </a:solidFill>
                <a:latin typeface="Consolas"/>
              </a:rPr>
              <a:t>192.168.50.26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3172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Receives every change — users, groups, files, packages.
No ansible installed here. Just sshd + python3.
Holds two parallel namespaces: painters (manual) and artists (ansible).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40480"/>
            <a:ext cx="11612880" cy="45720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904487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39D353"/>
                </a:solidFill>
                <a:latin typeface="Consolas"/>
              </a:rPr>
              <a:t>ssh root@brush  →  ansible-playbook artists.yml  →  ssh + python3 on canvas  →  /srv/studio appears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26280"/>
            <a:ext cx="11612880" cy="192024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526280"/>
            <a:ext cx="45720" cy="192024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526280"/>
            <a:ext cx="11612880" cy="27432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544568"/>
            <a:ext cx="11430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E8C"/>
                </a:solidFill>
                <a:latin typeface="Consolas"/>
              </a:rPr>
              <a:t>$ /root/ansible/inventory.ini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4837176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[canvas]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5056632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canvas ansible_host=192.168.50.26 ansible_user=root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5276088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5495544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[canvas:vars]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5715000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ansible_python_interpreter=/usr/bin/python3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Phase 1.1 — Creating the Group and Users on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E8C"/>
                </a:solidFill>
                <a:latin typeface="Consolas"/>
              </a:rPr>
              <a:t>Source: groupadd(8)  |  useradd(8)  |  /etc/passwd, /etc/group 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68680"/>
            <a:ext cx="11612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The painters namespace is created entirely by hand. Six users, one group, all created with bash. This is the ground-truth version of what Phase 2 will collapse into a single playbook task.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7406640" cy="310896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45720" cy="310896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7406640" cy="27432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E8C"/>
                </a:solidFill>
                <a:latin typeface="Consolas"/>
              </a:rPr>
              <a:t>$ root@canvas  —  manual user/group creation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865376"/>
            <a:ext cx="71871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# Show the group does not exist yet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084832"/>
            <a:ext cx="71871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E8C"/>
                </a:solidFill>
                <a:latin typeface="Consolas"/>
              </a:rPr>
              <a:t>getent group painters         # → no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304288"/>
            <a:ext cx="71871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523744"/>
            <a:ext cx="71871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# Create the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743200"/>
            <a:ext cx="71871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groupadd painters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962656"/>
            <a:ext cx="71871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E8C"/>
                </a:solidFill>
                <a:latin typeface="Consolas"/>
              </a:rPr>
              <a:t>getent group painters         # → painters:x:1001: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182112"/>
            <a:ext cx="71871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401568"/>
            <a:ext cx="71871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# Six users in one for-loop, all in painters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621024"/>
            <a:ext cx="71871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for u in rembrandt klimt dali kahlo banksy okeeffe;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840480"/>
            <a:ext cx="71871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  useradd -m -s /bin/bash -g painters "$u"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059936"/>
            <a:ext cx="71871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4279392"/>
            <a:ext cx="71871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4498848"/>
            <a:ext cx="71871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E8C"/>
                </a:solidFill>
                <a:latin typeface="Consolas"/>
              </a:rPr>
              <a:t>id rembrandt    # uid=1001 gid=1001(painters) groups=1001(painters)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1554480"/>
            <a:ext cx="4023360" cy="310896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1554480"/>
            <a:ext cx="54864" cy="310896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1600200"/>
            <a:ext cx="3749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Scale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1938528"/>
            <a:ext cx="3749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One group, six users, eight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2267712"/>
            <a:ext cx="3749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    bash commands.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2596896"/>
            <a:ext cx="3749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2926080"/>
            <a:ext cx="3749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At one host, the for-loop 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255264"/>
            <a:ext cx="3749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    fine.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3584448"/>
            <a:ext cx="3749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3913632"/>
            <a:ext cx="3749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At 200 hosts, repeating 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4242816"/>
            <a:ext cx="3749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    by SSH is not.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846320"/>
            <a:ext cx="11612880" cy="16002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846320"/>
            <a:ext cx="45720" cy="16002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4846320"/>
            <a:ext cx="11612880" cy="27432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864608"/>
            <a:ext cx="11430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E8C"/>
                </a:solidFill>
                <a:latin typeface="Consolas"/>
              </a:rPr>
              <a:t>$ what the same work looks like in artists.yml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5157216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- name: Create artists group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5376672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ansible.builtin.group: { name: artists, state: present 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5596128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" y="5815584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- name: Create artist users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6035040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ansible.builtin.user: { name: "{{ item }}", group: artists, create_home: true, shell: /bin/bash 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6254496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loop: [vangogh, picasso, davinci, monet, frida, warhol]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Phase 1.2 / 1.3 — Permissions, Setgid, and a Live Permission-Denied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E8C"/>
                </a:solidFill>
                <a:latin typeface="Consolas"/>
              </a:rPr>
              <a:t>Source: chmod(1)  |  install(1)  |  setgid behaviour on directories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11612880" cy="50292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88696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39D353"/>
                </a:solidFill>
                <a:latin typeface="Consolas"/>
              </a:rPr>
              <a:t>drwxr-sr-x  root  painters  4096  /srv/atelier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5669280" cy="283464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4864" cy="283464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087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the chmod numbers mean (Phase 1.2)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847088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2775 on /srv/atelier — setgid + rwxrwxr-x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176272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    new files inherit the painters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505456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0750 on per-user dirs — owner+group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834640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0600 on sketches.txt — owner read/write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163824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0644 on portfolio.txt — world-readable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493008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0664 on shared-masterpiece.txt — group writable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5669280" cy="283464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463040"/>
            <a:ext cx="54864" cy="283464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5087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The kernel enforces it in real time (Phase 1.3)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847088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sudo -u rembrandt cat sketches.txt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176272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    → "Private sketches by rembrandt."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505456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sudo -u klimt cat sketches.txt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834640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    → cat: ...: Permission denied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163824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sudo -u klimt tee -a shared-masterpiece.txt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493008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    → succeeds (mode 664 = group writable)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434840"/>
            <a:ext cx="11612880" cy="201168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434840"/>
            <a:ext cx="45720" cy="201168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434840"/>
            <a:ext cx="11612880" cy="27432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453128"/>
            <a:ext cx="11430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E8C"/>
                </a:solidFill>
                <a:latin typeface="Consolas"/>
              </a:rPr>
              <a:t>$ representative chmod calls from /srv/atelier setup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4745736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chmod 2775 /srv/atelier              # 2 = setgid bit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965192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install -d -o rembrandt -g painters -m 0750 /srv/atelier/rembrandt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5184648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chmod 600 /srv/atelier/rembrandt/sketches.txt    # private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5404104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chmod 644 /srv/atelier/rembrandt/portfolio.txt   # world-readable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5623560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chmod 664 /srv/atelier/shared-masterpiece.txt    # group-writable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9D353"/>
                </a:solidFill>
                <a:latin typeface="Consolas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PHASE 2 — WITH ANSIBLE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C8D6E5"/>
                </a:solidFill>
                <a:latin typeface="Calibri"/>
              </a:rPr>
              <a:t>The same work, declared once in YAML, run anywhere, safe to re-run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E8C"/>
                </a:solidFill>
                <a:latin typeface="Consolas"/>
              </a:rPr>
              <a:t>USING LINUX  ●  MANUALLY AND AUTOMATED  ●  CAREER PRACTICUM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Ansible Is — Agentless, Declarative, Idempotent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E8C"/>
                </a:solidFill>
                <a:latin typeface="Consolas"/>
              </a:rPr>
              <a:t>Source: docs.ansible.com  |  github.com/ansible/ansible  |  Red Hat AAP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68680"/>
            <a:ext cx="116128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Ansible is a configuration-management tool: you describe what state you want a host to be in, and ansible makes it so. It runs on a control node (here, brush) and pushes changes over SSH to managed hosts (here, canvas). The managed host needs nothing installed beyond sshd + python.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74519"/>
            <a:ext cx="2834640" cy="283464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74519"/>
            <a:ext cx="54864" cy="283464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20239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Agentless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58567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No daemon on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87751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Push over SSH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16935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Only needs sshd + python3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46119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Easy to bolt onto existing fleets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874519"/>
            <a:ext cx="2834640" cy="283464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874519"/>
            <a:ext cx="54864" cy="283464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920239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Declarative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58567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YAML describes desired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587751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Not a sequence of commands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916935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Modules know how to converge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246119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Reads like documentation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874519"/>
            <a:ext cx="2834640" cy="283464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874519"/>
            <a:ext cx="54864" cy="283464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920239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Idempotent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258567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Modules check before acting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587751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ok: when no change needed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916935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changed: when work was 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46119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Safe to run on a schedule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1874519"/>
            <a:ext cx="2697480" cy="283464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89720" y="1874519"/>
            <a:ext cx="54864" cy="2834640"/>
          </a:xfrm>
          <a:prstGeom prst="rect">
            <a:avLst/>
          </a:prstGeom>
          <a:solidFill>
            <a:srgbClr val="E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1920239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Modular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258567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~5,000 built-in + community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2587751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group, user, file, copy, apt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2916935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service, mysql_db, k8s, aws_ec2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246119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alibri"/>
              </a:rPr>
              <a:t>▸  Roles + collections for reuse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846320"/>
            <a:ext cx="11612880" cy="16002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846320"/>
            <a:ext cx="45720" cy="16002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4846320"/>
            <a:ext cx="11612880" cy="27432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864608"/>
            <a:ext cx="11430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E8C"/>
                </a:solidFill>
                <a:latin typeface="Consolas"/>
              </a:rPr>
              <a:t>$ smallest possible ansible — does the target answer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5157216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$ ansible canvas -i inventory.ini -m ping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5376672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canvas | SUCCESS =&gt; {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5596128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  "ansible_facts": { "discovered_interpreter_python": "/usr/bin/python3" },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" y="5815584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  "changed": false,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6035040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  "ping": "pong"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6254496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Anatomy of a Playbook — artists.yml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E8C"/>
                </a:solidFill>
                <a:latin typeface="Consolas"/>
              </a:rPr>
              <a:t>Source: docs.ansible.com/playbook_guide  |  /root/ansible/artists.yml on brush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68680"/>
            <a:ext cx="11612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A playbook is a YAML list of plays. Each play targets hosts and runs tasks. Each task calls a module — a small, idempotent unit of work that maps directly back to a Phase 1 command.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6858000" cy="493776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45720" cy="493776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6858000" cy="27432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27048"/>
            <a:ext cx="6675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E8C"/>
                </a:solidFill>
                <a:latin typeface="Consolas"/>
              </a:rPr>
              <a:t>$ /root/ansible/artists.yml  (excerpt)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819656"/>
            <a:ext cx="66385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- name: Configure artists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039112"/>
            <a:ext cx="66385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hosts: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258568"/>
            <a:ext cx="66385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become: 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478024"/>
            <a:ext cx="66385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vars: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697480"/>
            <a:ext cx="66385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  artists: [vangogh, picasso, davinci,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916936"/>
            <a:ext cx="66385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            monet, frida, warhol]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136392"/>
            <a:ext cx="66385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355848"/>
            <a:ext cx="66385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tasks: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575304"/>
            <a:ext cx="66385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  - name: Create artists 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794760"/>
            <a:ext cx="66385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    ansible.builtin.group: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014216"/>
            <a:ext cx="66385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      name: artists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4233672"/>
            <a:ext cx="66385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      state: present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4453128"/>
            <a:ext cx="66385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672584"/>
            <a:ext cx="66385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  - name: Create artist users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4892040"/>
            <a:ext cx="66385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    ansible.builtin.user: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5111496"/>
            <a:ext cx="66385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      name: "{{ item }}"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5330952"/>
            <a:ext cx="66385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      group: artists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5550408"/>
            <a:ext cx="66385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      create_home: true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5769864"/>
            <a:ext cx="66385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      loop: "{{ artists }}"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1508760"/>
            <a:ext cx="4572000" cy="233172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0" y="1508760"/>
            <a:ext cx="54864" cy="233172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0" y="155448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Module → bash equivalent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1892808"/>
            <a:ext cx="4297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group:  → groupadd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2221992"/>
            <a:ext cx="4297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user:  → useradd -m -g 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2551176"/>
            <a:ext cx="4297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file:  → mkdir + chown + chmod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2880360"/>
            <a:ext cx="4297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copy:  → echo &gt; … + chown + chmod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3209544"/>
            <a:ext cx="4297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apt:    → apt install -y 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3538728"/>
            <a:ext cx="4297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service: → systemctl reload 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3931920"/>
            <a:ext cx="4572000" cy="251460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0" y="3931920"/>
            <a:ext cx="54864" cy="25146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52360" y="397764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Why YAML over a bash script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4315968"/>
            <a:ext cx="4297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Declarative — describe end state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4645152"/>
            <a:ext cx="4297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Idempotent — only acts if needed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4974336"/>
            <a:ext cx="4297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Reusable — swap inventory, same play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5303520"/>
            <a:ext cx="4297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Auditable — diffs, dry-runs, recap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Sanity-Checking Changes — --check, --diff, --step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E8C"/>
                </a:solidFill>
                <a:latin typeface="Consolas"/>
              </a:rPr>
              <a:t>Source: ansible-playbook(1)  |  docs.ansible.com/playbook_guide/playbooks_checkmode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5760720" cy="201168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868680"/>
            <a:ext cx="54864" cy="201168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--check  (plan mode)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52728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8D6E5"/>
                </a:solidFill>
                <a:latin typeface="Calibri"/>
              </a:rPr>
              <a:t>Runs every task in 'would do' mode. Modules report what they would change without touching the host. Equivalent to terraform plan or apt --dry-run.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868680"/>
            <a:ext cx="5760720" cy="201168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868680"/>
            <a:ext cx="54864" cy="201168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9144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--diff  (show file changes)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252728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8D6E5"/>
                </a:solidFill>
                <a:latin typeface="Calibri"/>
              </a:rPr>
              <a:t>Pairs with --check. For any file or template task, prints a unified diff of the before/after content — so you see the exact lines that would change.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5760720" cy="201168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017520"/>
            <a:ext cx="54864" cy="201168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063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--step  (pause between tasks)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401568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8D6E5"/>
                </a:solidFill>
                <a:latin typeface="Calibri"/>
              </a:rPr>
              <a:t>Prompts (y/n/c) before every task. Useful for slow, deliberate runs — and for narrating what is about to happen during a presentation.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017520"/>
            <a:ext cx="5760720" cy="201168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017520"/>
            <a:ext cx="54864" cy="2011680"/>
          </a:xfrm>
          <a:prstGeom prst="rect">
            <a:avLst/>
          </a:prstGeom>
          <a:solidFill>
            <a:srgbClr val="E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063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--start-at-task / --tags / --limit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401568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8D6E5"/>
                </a:solidFill>
                <a:latin typeface="Calibri"/>
              </a:rPr>
              <a:t>Cherry-pick: --start-at-task "Name" skips ahead, --tags users runs only tagged tasks, --limit canvas restricts to one host from the inventory.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166360"/>
            <a:ext cx="11612880" cy="128016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166360"/>
            <a:ext cx="45720" cy="128016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5166360"/>
            <a:ext cx="11612880" cy="27432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184648"/>
            <a:ext cx="11430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E8C"/>
                </a:solidFill>
                <a:latin typeface="Consolas"/>
              </a:rPr>
              <a:t>$ three flavours of running the same playbook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5477256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ansible-playbook artists.yml --check --diff      # dry run, shows would-be diffs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5696712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ansible-playbook artists.yml --step              # real, prompts before each task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5916168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ansible-playbook artists.yml                      # real, full speed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Idempotency — the Property That Makes Ansible Safe to Re-Run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E8C"/>
                </a:solidFill>
                <a:latin typeface="Consolas"/>
              </a:rPr>
              <a:t>Source: docs.ansible.com  |  Wikipedia: idempotence (mathematics &amp; systems)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68680"/>
            <a:ext cx="11612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8D6E5"/>
                </a:solidFill>
                <a:latin typeface="Calibri"/>
              </a:rPr>
              <a:t>Run the playbook a hundred times. The host ends up in the same state every single time. This is the property bash scripts don't have — and the reason ansible can be re-run safely.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760720" cy="310896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54864" cy="310896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8191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Bash on re-run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11680"/>
            <a:ext cx="5486400" cy="25146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011680"/>
            <a:ext cx="45720" cy="25146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011680"/>
            <a:ext cx="5486400" cy="27432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29968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E8C"/>
                </a:solidFill>
                <a:latin typeface="Consolas"/>
              </a:rPr>
              <a:t># second run of the same 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2322576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$ groupadd painters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2542032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5575A"/>
                </a:solidFill>
                <a:latin typeface="Consolas"/>
              </a:rPr>
              <a:t>groupadd: group 'painters' already exists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2761488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$ useradd -m rembrandt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2980944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5575A"/>
                </a:solidFill>
                <a:latin typeface="Consolas"/>
              </a:rPr>
              <a:t>useradd: user 'rembrandt' already exists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200400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$ echo $?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3419856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5575A"/>
                </a:solidFill>
                <a:latin typeface="Consolas"/>
              </a:rPr>
              <a:t>9   # script aborts here unless guarded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508760"/>
            <a:ext cx="5760720" cy="310896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508760"/>
            <a:ext cx="54864" cy="310896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58191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Ansible on re-run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011680"/>
            <a:ext cx="5486400" cy="25146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011680"/>
            <a:ext cx="45720" cy="25146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011680"/>
            <a:ext cx="5486400" cy="27432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029968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E8C"/>
                </a:solidFill>
                <a:latin typeface="Consolas"/>
              </a:rPr>
              <a:t>$ ansible-playbook artists.yml  (second run)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2322576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TASK [Create artists group]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542032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9D353"/>
                </a:solidFill>
                <a:latin typeface="Consolas"/>
              </a:rPr>
              <a:t>ok: [canvas]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2761488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TASK [Create artist users]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2980944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9D353"/>
                </a:solidFill>
                <a:latin typeface="Consolas"/>
              </a:rPr>
              <a:t>ok: [canvas] =&gt; (item=vangogh)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200400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9D353"/>
                </a:solidFill>
                <a:latin typeface="Consolas"/>
              </a:rPr>
              <a:t>ok: [canvas] =&gt; (item=picasso)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3419856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9D353"/>
                </a:solidFill>
                <a:latin typeface="Consolas"/>
              </a:rPr>
              <a:t>PLAY RECAP  canvas: ok=8  changed=0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800600"/>
            <a:ext cx="11612880" cy="164592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4800600"/>
            <a:ext cx="54864" cy="164592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8920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5257800"/>
            <a:ext cx="11338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C8D6E5"/>
                </a:solidFill>
                <a:latin typeface="Calibri"/>
              </a:rPr>
              <a:t>▸  Run on schedule (cron, CI) without fear of duplicate side-effects.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C8D6E5"/>
                </a:solidFill>
                <a:latin typeface="Calibri"/>
              </a:rPr>
              <a:t>▸  Add a new server tomorrow — same playbook brings it to the same state without breaking the others.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C8D6E5"/>
                </a:solidFill>
                <a:latin typeface="Calibri"/>
              </a:rPr>
              <a:t>▸  changed: vs ok: in the recap is an audit trail. If something changed when it shouldn't have, it shows up there.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Real Payoff — A Full Service Install in One Command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E8C"/>
                </a:solidFill>
                <a:latin typeface="Consolas"/>
              </a:rPr>
              <a:t>Source: /root/ansible/piwigo.yml on brush  |  piwigo.org/install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68680"/>
            <a:ext cx="11612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Users and permissions are warm-up. The point of the demo is what happens when this same approach is applied to a real service. piwigo.yml installs Apache + MariaDB + PHP + Piwigo + a vhost.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760720" cy="384048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54864" cy="384048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54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this would be by hand (10 steps)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92808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1.  apt install apache2 mariadb-server php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21992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2.  CREATE DATABASE piwigo;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551176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3.  CREATE USER + GRANT ALL ON piwigo.*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880360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4.  curl piwigo.zip from upstream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209544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5.  unzip into /var/www/piwigo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538728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6.  chown -R www-data:www-data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867912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7.  write /etc/apache2/sites-available/piwigo.conf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197096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8.  a2enmod rewrite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526280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9.  a2ensite piwigo.conf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855464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10. systemctl reload apache2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508760"/>
            <a:ext cx="5760720" cy="384048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508760"/>
            <a:ext cx="54864" cy="384048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554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it is in ansible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892808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one ansible-playbook piwigo.yml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221992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one YAML file describing the end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551176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reusable across N servers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880360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--check shows the diff before any 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209544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re-run is safe (idempotent)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538728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867912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After it runs, browse to: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197096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    http://192.168.50.26/install.php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526280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and walk the install wizard — DB user 'piwigo',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855464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password 'BrushAndCanvas!2026'.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532120"/>
            <a:ext cx="11612880" cy="9144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5532120"/>
            <a:ext cx="45720" cy="9144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5532120"/>
            <a:ext cx="11612880" cy="27432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550408"/>
            <a:ext cx="11430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E8C"/>
                </a:solidFill>
                <a:latin typeface="Consolas"/>
              </a:rPr>
              <a:t>$ ten manual steps collapse to one command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5843016"/>
            <a:ext cx="11393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  <a:latin typeface="Consolas"/>
              </a:rPr>
              <a:t>ansible-playbook piwigo.yml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Side-by-Side — Manual vs Ansible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E8C"/>
                </a:solidFill>
                <a:latin typeface="Consolas"/>
              </a:rPr>
              <a:t>Italics = aspirational (the playbook does it internally; we don't run it by hand here)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3931920" cy="420624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32688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868680"/>
            <a:ext cx="4251960" cy="420624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932688"/>
            <a:ext cx="40690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Manual (bash)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868680"/>
            <a:ext cx="3337560" cy="420624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932688"/>
            <a:ext cx="31546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Ansible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25880"/>
            <a:ext cx="3931920" cy="420624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389888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Create group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325880"/>
            <a:ext cx="4251960" cy="420624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389888"/>
            <a:ext cx="40690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groupadd painters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1325880"/>
            <a:ext cx="3337560" cy="420624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1389888"/>
            <a:ext cx="31546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group: name=artists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746504"/>
            <a:ext cx="3931920" cy="420624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810512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Create 6 users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1746504"/>
            <a:ext cx="4251960" cy="420624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1810512"/>
            <a:ext cx="40690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for u in …; do useradd -m -g painters "$u"; done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1746504"/>
            <a:ext cx="3337560" cy="420624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1810512"/>
            <a:ext cx="31546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user: + loop: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167128"/>
            <a:ext cx="3931920" cy="420624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231136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Directory + mode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2167128"/>
            <a:ext cx="4251960" cy="420624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2231136"/>
            <a:ext cx="40690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mkdir; chown; chmod   (3 cmds)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2167128"/>
            <a:ext cx="3337560" cy="420624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2231136"/>
            <a:ext cx="31546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file: state=directory mode= 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587752"/>
            <a:ext cx="3931920" cy="420624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651760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File + content + mode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2587752"/>
            <a:ext cx="4251960" cy="420624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2651760"/>
            <a:ext cx="40690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echo &gt; …; chown; chmod   (3 cmds)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2587752"/>
            <a:ext cx="3337560" cy="420624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2651760"/>
            <a:ext cx="31546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copy: dest= content= mode= 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008376"/>
            <a:ext cx="3931920" cy="420624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072384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C8D6E5"/>
                </a:solidFill>
                <a:latin typeface="Consolas"/>
              </a:rPr>
              <a:t>Install 11 packages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3008376"/>
            <a:ext cx="4251960" cy="420624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3072384"/>
            <a:ext cx="40690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C8D6E5"/>
                </a:solidFill>
                <a:latin typeface="Consolas"/>
              </a:rPr>
              <a:t>apt install -y pkg1 pkg2 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49640" y="3008376"/>
            <a:ext cx="3337560" cy="420624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3072384"/>
            <a:ext cx="31546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C8D6E5"/>
                </a:solidFill>
                <a:latin typeface="Consolas"/>
              </a:rPr>
              <a:t>apt: name=[…]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429000"/>
            <a:ext cx="3931920" cy="420624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3493008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C8D6E5"/>
                </a:solidFill>
                <a:latin typeface="Consolas"/>
              </a:rPr>
              <a:t>Create DB + user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3429000"/>
            <a:ext cx="4251960" cy="420624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43400" y="3493008"/>
            <a:ext cx="40690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C8D6E5"/>
                </a:solidFill>
                <a:latin typeface="Consolas"/>
              </a:rPr>
              <a:t>mysql &lt;&lt;SQL … SQL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49640" y="3429000"/>
            <a:ext cx="3337560" cy="420624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41080" y="3493008"/>
            <a:ext cx="31546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C8D6E5"/>
                </a:solidFill>
                <a:latin typeface="Consolas"/>
              </a:rPr>
              <a:t>mysql_db + mysql_user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849624"/>
            <a:ext cx="3931920" cy="420624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3913632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C8D6E5"/>
                </a:solidFill>
                <a:latin typeface="Consolas"/>
              </a:rPr>
              <a:t>Reload service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60" y="3849624"/>
            <a:ext cx="4251960" cy="420624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43400" y="3913632"/>
            <a:ext cx="40690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C8D6E5"/>
                </a:solidFill>
                <a:latin typeface="Consolas"/>
              </a:rPr>
              <a:t>systemctl reload apache2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49640" y="3849624"/>
            <a:ext cx="3337560" cy="420624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41080" y="3913632"/>
            <a:ext cx="31546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C8D6E5"/>
                </a:solidFill>
                <a:latin typeface="Consolas"/>
              </a:rPr>
              <a:t>handler: service: state=reloaded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270248"/>
            <a:ext cx="3931920" cy="420624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4334256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Re-running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0" y="4270248"/>
            <a:ext cx="4251960" cy="420624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43400" y="4334256"/>
            <a:ext cx="40690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Error: group already exists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49640" y="4270248"/>
            <a:ext cx="3337560" cy="420624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1080" y="4334256"/>
            <a:ext cx="31546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ok  (idempotent)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690872"/>
            <a:ext cx="3931920" cy="420624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754880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Across N servers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51960" y="4690872"/>
            <a:ext cx="4251960" cy="420624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43400" y="4754880"/>
            <a:ext cx="40690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SSH into each one and repeat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49640" y="4690872"/>
            <a:ext cx="3337560" cy="420624"/>
          </a:xfrm>
          <a:prstGeom prst="rect">
            <a:avLst/>
          </a:prstGeom>
          <a:solidFill>
            <a:srgbClr val="12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41080" y="4754880"/>
            <a:ext cx="31546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  <a:latin typeface="Consolas"/>
              </a:rPr>
              <a:t>Add hostnames to inventory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4320" y="5202936"/>
            <a:ext cx="11612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E8C"/>
                </a:solidFill>
                <a:latin typeface="Consolas"/>
              </a:rPr>
              <a:t>Italics = work the playbook does internally — not run by hand in this demo.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Where Ansible Fits — The Wider Infrastructure-as-Code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E8C"/>
                </a:solidFill>
                <a:latin typeface="Consolas"/>
              </a:rPr>
              <a:t>Note: classmates are presenting Terraform separately. Ansible + Terraform are commonly paired.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68680"/>
            <a:ext cx="11612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Ansible is one tool in a layered stack. Each layer has a different job — provisioning, configuration, virtualisation, orchestration. They compose, not compete.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5760720" cy="210312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54864" cy="210312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00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Provisioning  —  create the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38528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Terraform (HashiCorp HCL)  ← classmate's slot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67712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Pulumi  (TypeScript / Python / Go)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596896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CloudFormation, ARM, OpenTofu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926080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Job: spin up VMs, networks, DNS, 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554480"/>
            <a:ext cx="5760720" cy="210312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554480"/>
            <a:ext cx="54864" cy="210312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600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Configuration management  —  what we did 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38528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Ansible       (this demo)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267712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Puppet, Chef, Salt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596896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cfengine (the original, 1993)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926080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Job: bring an existing host to a desired 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49039"/>
            <a:ext cx="5760720" cy="210312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749039"/>
            <a:ext cx="54864" cy="21031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79475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Virtualisation  —  what runs the VMs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133087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Proxmox VE  ← school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462271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KVM / QEMU, ESXi, Hyper-V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791455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Cloud equivalents: EC2, GCE, Azure VM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120639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Job: provide the hosts the layers above target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749039"/>
            <a:ext cx="5760720" cy="210312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3749039"/>
            <a:ext cx="54864" cy="2103120"/>
          </a:xfrm>
          <a:prstGeom prst="rect">
            <a:avLst/>
          </a:prstGeom>
          <a:solidFill>
            <a:srgbClr val="E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79475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Orchestration  —  schedule containerised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133087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Kubernetes, Nomad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462271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Docker Swarm, ECS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791455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Job: place + scale containers across hosts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120639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▸  Adjacent to but distinct from the layers above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989320"/>
            <a:ext cx="11612880" cy="502920"/>
          </a:xfrm>
          <a:prstGeom prst="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5989320"/>
            <a:ext cx="54864" cy="50292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053328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Common pattern:  Terraform creates the VMs.  Ansible configures them.  Today we showed the second half.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0" b="1">
                <a:solidFill>
                  <a:srgbClr val="FFFFFF"/>
                </a:solidFill>
                <a:latin typeface="Impact"/>
              </a:rP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17520"/>
            <a:ext cx="8229600" cy="54864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C8D6E5"/>
                </a:solidFill>
                <a:latin typeface="Consolas"/>
              </a:rPr>
              <a:t>USING LINUX — MANUALLY AND AUTOMATED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E8C"/>
                </a:solidFill>
                <a:latin typeface="Calibri"/>
              </a:rPr>
              <a:t>Kernel  ●  Permissions  ●  FHS  ●  Inventory &amp; playbooks  ●  Idempotency  ●  Service install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9D353"/>
                </a:solidFill>
                <a:latin typeface="Consolas"/>
              </a:rPr>
              <a:t>kernel.org  ●  docs.ansible.com  ●  pathname.com/fhs  ●  piwigo.org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3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1967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E8C"/>
                </a:solidFill>
                <a:latin typeface="Consolas"/>
              </a:rPr>
              <a:t>Career Practicum  ●  Finley Karras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